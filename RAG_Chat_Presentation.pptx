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914400"/>
            <a:ext cx="237744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418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2A"/>
                </a:solidFill>
              </a:rPr>
              <a:t>FAA 14 CFR RAG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RAG-Chat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B4D8"/>
                </a:solidFill>
              </a:rPr>
              <a:t>미국 연방항공규정(14 CFR) 위 검색 증강 Q&amp;A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63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C8DC"/>
                </a:solidFill>
              </a:rPr>
              <a:t>답변 정확도 · 토큰 최적화 · 사용자 경험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703320"/>
            <a:ext cx="7315200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023360"/>
            <a:ext cx="11064240" cy="210312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73152" cy="2103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TEAM  ·  팀원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617720"/>
            <a:ext cx="3383280" cy="1371600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박윤호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DC"/>
                </a:solidFill>
              </a:rPr>
              <a:t>Team Member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4617720"/>
            <a:ext cx="3383280" cy="1371600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4892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김태원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DC"/>
                </a:solidFill>
              </a:rPr>
              <a:t>Team Member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55280" y="4617720"/>
            <a:ext cx="3383280" cy="1371600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48920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최두호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0" y="54864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C8DC"/>
                </a:solidFill>
              </a:rPr>
              <a:t>Team Member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전체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DC"/>
                </a:solidFill>
              </a:rPr>
              <a:t>질문 입력부터 SSE 스트리밍 응답까지 — 8단계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" y="123444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076" y="1234440"/>
            <a:ext cx="26060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523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8156" y="14356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인젝션 차단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정규식으로 프롬프트 조작 시도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3260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96996" y="123444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6996" y="1234440"/>
            <a:ext cx="26060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3415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37076" y="14356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의미적 캐시 조회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9876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유사 질문의 검색결과 재활용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12180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5916" y="123444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85916" y="1234440"/>
            <a:ext cx="26060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307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25996" y="14356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쿼리 리라이트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8796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한국어/비교 질문 → 영어 검색어 분해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1100" y="192024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4836" y="123444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74836" y="1234440"/>
            <a:ext cx="260604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11996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14916" y="143560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하이브리드 검색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57716" y="210312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Dense + BM25 + RRF + § dedup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0" y="310896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A6A80"/>
                </a:solidFill>
              </a:rPr>
              <a:t>↓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" y="347472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" y="3474720"/>
            <a:ext cx="2606040" cy="6400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5236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9A"/>
                </a:solidFill>
              </a:rPr>
              <a:t>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8156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CrossEncoder 재정렬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" y="4343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쿼리·문서 쌍 정밀 관련도 판단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23260" y="4160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96996" y="347472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96996" y="3474720"/>
            <a:ext cx="260604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534156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</a:rPr>
              <a:t>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37076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OOS·인젝션 방어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79876" y="4343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청크 본문 스캔 + 유사도 임계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12180" y="4160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85916" y="347472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185916" y="3474720"/>
            <a:ext cx="260604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23076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</a:rPr>
              <a:t>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25996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생성 + Faithfulness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68796" y="4343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미검증 § 발견 시 강제 재생성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01100" y="416052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A6A80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74836" y="3474720"/>
            <a:ext cx="2606040" cy="17373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974836" y="3474720"/>
            <a:ext cx="260604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11996" y="3611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4A261"/>
                </a:solidFill>
              </a:rPr>
              <a:t>⑧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14916" y="3675888"/>
            <a:ext cx="1874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SSE 스트리밍 응답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57716" y="434340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8DC"/>
                </a:solidFill>
              </a:rPr>
              <a:t>tool·delta·reset·done 이벤트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623560"/>
            <a:ext cx="11457432" cy="914400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5623560"/>
            <a:ext cx="73152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715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핵심 코드 위치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backend/app.py:657  chat_stream()   ·   메인 엔드포인트, 모든 단계가 이 함수 안 gen() 제너레이터에서 순차 실행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64008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B4D8"/>
                </a:solidFill>
              </a:rPr>
              <a:t>답변 정확도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DC"/>
                </a:solidFill>
              </a:rPr>
              <a:t>검색은 넓게, 재정렬은 정밀하게, 검증은 강제로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5760720" cy="53949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검색 · 재정렬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" y="1691640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하이브리드 검색 (Dense + BM25) — 의미와 조항 번호를 동시에 매칭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3172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2331720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Reciprocal Rank Fusion — 두 랭킹을 1/(60+rank)로 합산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2971800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§-section dedup (SEC_PER_KEY=2) — 긴 조항의 pool 독점 방지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6118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3611880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과다수집 후 재정렬 — top 24 → CrossEncoder → top 5~8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5196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4251960"/>
            <a:ext cx="52303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LEX_KEEP=3 — BM25 상위 3개는 재정렬 커트라인 무조건 보존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097280"/>
            <a:ext cx="5486400" cy="53949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1097280"/>
            <a:ext cx="5486400" cy="6400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2344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C9A"/>
                </a:solidFill>
              </a:rPr>
              <a:t>생성 · 검증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169164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02552" y="1691640"/>
            <a:ext cx="4956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쿼리 리라이트 (Haiku) — 비교·열거·비영어 질문을 1~3개 검색어로 분해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33172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02552" y="2331720"/>
            <a:ext cx="4956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definition_boost — 정의성 질문에 정의 조항을 강제 pull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9718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02552" y="2971800"/>
            <a:ext cx="4956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expand_sections — 관련도 게이팅 하에 § 형제 청크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6118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02552" y="3611880"/>
            <a:ext cx="4956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Haiku → Sonnet 자동 에스컬 (is_hard) — 어려운 질문만 고품질 모델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25196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02552" y="4251960"/>
            <a:ext cx="4956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Faithfulness 강제 재생성 — 미검증 § 발견 시 금지목록으로 재생성 1회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64008" cy="50292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C9A"/>
                </a:solidFill>
              </a:rPr>
              <a:t>토큰 최적화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DC"/>
                </a:solidFill>
              </a:rPr>
              <a:t>다층 캐시 · 조건부 실행 · 모델 티어링 · 프롬프트 캐싱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11430000" cy="2926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73152" cy="292608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070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C9A"/>
                </a:solidFill>
              </a:rPr>
              <a:t>다층 캐시 계층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45920"/>
            <a:ext cx="11064240" cy="384048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45920"/>
            <a:ext cx="54864" cy="38404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007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CC9A"/>
                </a:solidFill>
              </a:rPr>
              <a:t>_CHUNK_CACHE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7007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의미 유사 질문의 검색결과 재활용 (임베딩 코사인 기반)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03120"/>
            <a:ext cx="11064240" cy="384048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548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1579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_RETRIEVE_CACHE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1579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(쿼리, k) → 임베딩+BM25+RRF 결과 스킵 (LRU 2,048)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60320"/>
            <a:ext cx="11064240" cy="384048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560320"/>
            <a:ext cx="548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6151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_RERANK_CACHE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6151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(쿼리, chunk_id) → CrossEncoder 예측 스킵 (LRU 20,000)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11064240" cy="384048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017520"/>
            <a:ext cx="54864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0723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_REWRITE_CACHE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0723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질문 → 리라이트 결과 스킵, Haiku API 호출 회피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74720"/>
            <a:ext cx="11064240" cy="384048"/>
          </a:xfrm>
          <a:prstGeom prst="rect">
            <a:avLst/>
          </a:prstGeom>
          <a:solidFill>
            <a:srgbClr val="1E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54864" cy="384048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529584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A80"/>
                </a:solidFill>
              </a:rPr>
              <a:t>_embed_one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529584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8DC"/>
                </a:solidFill>
              </a:rPr>
              <a:t>쿼리 텍스트 → MiniLM 인코딩 스킵 (functools.lru_cache)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3749039" cy="237744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3749039" cy="5486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31596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C9A"/>
                </a:solidFill>
              </a:rPr>
              <a:t>Anthropic 프롬프트 캐싱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7548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4754880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SYSTEM_PROMPT에 cache_control: ephemeral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19379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" y="5193792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CONTEXT 블록도 캐시 마크 → chunk 재사용 시 cached rate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32704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ECC9A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" y="5632704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usage.cache_read_input_tokens로 절감량 추적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60519" y="4206240"/>
            <a:ext cx="3749039" cy="237744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60519" y="4206240"/>
            <a:ext cx="3749039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79" y="431596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조건부 실행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47548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1" y="4754880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should_rewrite() — 필요할 때만 리라이트 (Haiku 절약)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97679" y="519379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3711" y="5193792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단순 질문 K=5, 복합 질문 K=8 (K_SIMPLE / K_FINAL)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79" y="5632704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1" y="5632704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히스토리 미사용 — input 토큰 부풀림 방지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8" y="4206240"/>
            <a:ext cx="3749039" cy="237744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955278" y="4206240"/>
            <a:ext cx="3749039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2438" y="4315968"/>
            <a:ext cx="35204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모델 티어링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38" y="47548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48470" y="4754880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기본 Haiku (claude-haiku-4-5) — 빠르고 저렴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092438" y="5193792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8470" y="5193792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is_hard() 트리거 시 Sonnet 자동 전환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38" y="5632704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48470" y="5632704"/>
            <a:ext cx="331012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FFFFF"/>
                </a:solidFill>
              </a:rPr>
              <a:t>리라이트는 항상 Haiku, max_tokens=200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"/>
            <a:ext cx="64008" cy="5029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4A261"/>
                </a:solidFill>
              </a:rPr>
              <a:t>사용자 경험 전략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0C8DC"/>
                </a:solidFill>
              </a:rPr>
              <a:t>실시간성 · 다국어 · 안전성 · 인용 탐색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960120"/>
            <a:ext cx="11274552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3794760" cy="53949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3794760" cy="640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2252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A261"/>
                </a:solidFill>
              </a:rPr>
              <a:t>실시간 스트리밍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7830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78308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SSE 기반 토큰 단위 스트리밍 — 대기 시간 체감↓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256032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6032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tool 이벤트로 단계별 상태 표시 (Planning / Search / Rerank / Verify)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333756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33756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reset 이벤트 — Faithfulness 재생성 시 draft 초기화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1148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4A261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411480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cache 히트 시 'X% match, retrieval skipped' 배너 노출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15384" y="1097280"/>
            <a:ext cx="3794760" cy="53949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15384" y="1097280"/>
            <a:ext cx="37947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9976" y="12252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B4D8"/>
                </a:solidFill>
              </a:rPr>
              <a:t>다국어 · 안전성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79976" y="17830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36008" y="178308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UI + 답변 4개 언어 (EN / KO / JA / ES) — 질문 언어 자동 반영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256032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6008" y="256032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거절 메시지도 감지된 언어로 출력 (_refuse)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79976" y="333756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333756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3중 인젝션 방어 (원본 → 리라이트본 → 검색된 청크)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79976" y="41148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00B4D8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36008" y="411480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OOS_FLOOR=0.22 — 근거 없으면 정직하게 거절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65008" y="1097280"/>
            <a:ext cx="3794760" cy="539496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65008" y="1097280"/>
            <a:ext cx="379476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0" y="1225296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</a:rPr>
              <a:t>인용 · 편의 기능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178308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D166"/>
                </a:solidFill>
              </a:rPr>
              <a:t>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178308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[n] 클릭 → 원문 문서 해당 구절로 하이라이트 이동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256032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D166"/>
                </a:solidFill>
              </a:rP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256032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답변 완료 즉시 prefetchDocs로 소스 사전 캐싱 → 즉시 열림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333756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D166"/>
                </a:solidFill>
              </a:rPr>
              <a:t>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333756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입력창 ↑/↓ 히스토리 회상 — 이전 질문 재사용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114800"/>
            <a:ext cx="228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D166"/>
                </a:solidFill>
              </a:rP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85632" y="4114800"/>
            <a:ext cx="32644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diagnostics 패널 — 토큰·점수·인용 상세 진단 노출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377440"/>
            <a:ext cx="121889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11480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질문 &amp; 답변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4892040"/>
            <a:ext cx="3931920" cy="4572"/>
          </a:xfrm>
          <a:prstGeom prst="rect">
            <a:avLst/>
          </a:prstGeom>
          <a:solidFill>
            <a:srgbClr val="4A6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B0C8DC"/>
                </a:solidFill>
              </a:rPr>
              <a:t>감사합니다  ·  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66928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6A80"/>
                </a:solidFill>
              </a:rPr>
              <a:t>박윤호   ·   김태원   ·   최두호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